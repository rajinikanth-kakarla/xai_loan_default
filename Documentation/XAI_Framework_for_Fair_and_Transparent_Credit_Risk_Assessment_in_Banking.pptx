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F6E6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Random Forest</c:v>
                </c:pt>
                <c:pt idx="2">
                  <c:v>Logistic Regression</c:v>
                </c:pt>
                <c:pt idx="3">
                  <c:v>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0.74819999999999998</c:v>
                </c:pt>
                <c:pt idx="1">
                  <c:v>0.74609999999999999</c:v>
                </c:pt>
                <c:pt idx="2">
                  <c:v>0.6915</c:v>
                </c:pt>
                <c:pt idx="3">
                  <c:v>0.68969999999999998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FF-4435-BBBC-B78B2A4D7A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b"/>
        <c:majorGridlines>
          <c:spPr>
            <a:ln w="12700" cap="flat">
              <a:solidFill>
                <a:srgbClr val="E3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6E6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2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Education</c:v>
                </c:pt>
                <c:pt idx="1">
                  <c:v>Repayment status – 4 months ago</c:v>
                </c:pt>
                <c:pt idx="2">
                  <c:v>Repayment status – 5 months ago</c:v>
                </c:pt>
                <c:pt idx="3">
                  <c:v>Marital status</c:v>
                </c:pt>
                <c:pt idx="4">
                  <c:v>Repayment status – 3 months ago</c:v>
                </c:pt>
                <c:pt idx="5">
                  <c:v>Repayment status – 2 months ago</c:v>
                </c:pt>
                <c:pt idx="6">
                  <c:v>Sex</c:v>
                </c:pt>
                <c:pt idx="7">
                  <c:v>Repayment status – latest month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4.2700000000000002E-2</c:v>
                </c:pt>
                <c:pt idx="1">
                  <c:v>4.7800000000000002E-2</c:v>
                </c:pt>
                <c:pt idx="2">
                  <c:v>5.8599999999999999E-2</c:v>
                </c:pt>
                <c:pt idx="3">
                  <c:v>8.4199999999999997E-2</c:v>
                </c:pt>
                <c:pt idx="4">
                  <c:v>8.9599999999999999E-2</c:v>
                </c:pt>
                <c:pt idx="5">
                  <c:v>0.1217</c:v>
                </c:pt>
                <c:pt idx="6">
                  <c:v>0.1225</c:v>
                </c:pt>
                <c:pt idx="7">
                  <c:v>0.1406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94-428C-8697-62B73CDCF7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8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F6E6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D4A94E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658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SERVICES  ·  CREDIT RISK MANAGEMENT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800"/>
              </a:lnSpc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Framework for Fair and Transparent Credit Risk Assessment in Banking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credit-card payment default with XGBoost, and explaining every prediction with SHAP — so risk teams get both accuracy and trust.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5806440"/>
            <a:ext cx="2011680" cy="0"/>
          </a:xfrm>
          <a:prstGeom prst="line">
            <a:avLst/>
          </a:prstGeom>
          <a:noFill/>
          <a:ln w="31750">
            <a:solidFill>
              <a:srgbClr val="D4A9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79" y="5943600"/>
            <a:ext cx="109238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Project Report  |  Data Analytics &amp; Explainable AI                                                                                                                                                            </a:t>
            </a:r>
            <a:r>
              <a:rPr lang="en-US" sz="1200" b="1" dirty="0">
                <a:solidFill>
                  <a:srgbClr val="FFFFFF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Rajinikanth Kakarla</a:t>
            </a:r>
            <a:endParaRPr lang="en-US" sz="12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credit-card default prediction needs more than a black box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6F7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extend credit based on a customer's financial profile and repayment behavior. Identifying who may fail to pay next month is a core risk-management challenge.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scoring and manual analysis struggle with complex, nonlinear repayment behavior. Machine learning can model these patterns — but accurate predictions aren't enough on their own.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041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34340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financial institution accurately predict credit-card default risk — while also explaining WHY a customer is classified as high-risk or low-risk?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FALL SHORT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2" name="Image 0" descr="icons/balanc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933" y="2073493"/>
            <a:ext cx="351861" cy="35186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19933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0" y="2286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complex, nonlinear repayment behavior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306324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6" name="Image 1" descr="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933" y="3125053"/>
            <a:ext cx="351861" cy="3518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30449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315200" y="3337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slow and hard to scale across portfolios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675120" y="411480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20" name="Image 2" descr="icons/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933" y="4176613"/>
            <a:ext cx="351861" cy="3518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0" y="40965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ML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315200" y="4389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without explaining the reasons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675120" y="5166360"/>
            <a:ext cx="475488" cy="475488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24" name="Image 3" descr="icons/us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933" y="5228173"/>
            <a:ext cx="351861" cy="3518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51480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interpretability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315200" y="5440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analyst and customer trust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goals spanning prediction, explanation, and usability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blurRad="76200" dist="25400" dir="5400000" algn="bl" rotWithShape="0">
              <a:srgbClr val="8C97A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6" name="Image 0" descr="icons/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" y="1831360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231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default risk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classifies next-month payment default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5087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blurRad="76200" dist="25400" dir="5400000" algn="bl" rotWithShape="0">
              <a:srgbClr val="8C97A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1764792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1" name="Image 1" descr="icons/balanc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152" y="1831360"/>
            <a:ext cx="378927" cy="378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24231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 false negatives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72584" y="283464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classification performance, with recall prioritized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84464" y="15087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blurRad="76200" dist="25400" dir="5400000" algn="bl" rotWithShape="0">
              <a:srgbClr val="8C97A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1764792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6" name="Image 2" descr="icons/bul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7064" y="1831360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0496" y="2423160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key drivers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40496" y="2834640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customer attributes drive risk most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blurRad="76200" dist="25400" dir="5400000" algn="bl" rotWithShape="0">
              <a:srgbClr val="8C97A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6966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icons/b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240" y="4236232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each prediction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5239512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per-customer explanations via SHAP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913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blurRad="76200" dist="25400" dir="5400000" algn="bl" rotWithShape="0">
              <a:srgbClr val="8C97A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16966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icons/serve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152" y="4236232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72584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interface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72584" y="5239512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analysts enter customer data and see results live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84464" y="391363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7F9"/>
          </a:solidFill>
          <a:ln/>
          <a:effectLst>
            <a:outerShdw blurRad="76200" dist="25400" dir="5400000" algn="bl" rotWithShape="0">
              <a:srgbClr val="8C97A8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416966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icons/layer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7064" y="4236232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0496" y="4828032"/>
            <a:ext cx="3099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performance clearly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540496" y="5239512"/>
            <a:ext cx="3099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and visualizations for stakeholders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Preparation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Credit Card Default dataset — 30,000 customers, 23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436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4365E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645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434840" y="2286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4365E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645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77.9% / 22.1%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138160" y="22860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 (no default / default)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audit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column, confirm zero missing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55264" y="3703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10712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639312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2" name="Text 20"/>
          <p:cNvSpPr/>
          <p:nvPr/>
        </p:nvSpPr>
        <p:spPr>
          <a:xfrm>
            <a:off x="363931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39312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39312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preserving class ratio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17336" y="3703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72784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501384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8" name="Text 26"/>
          <p:cNvSpPr/>
          <p:nvPr/>
        </p:nvSpPr>
        <p:spPr>
          <a:xfrm>
            <a:off x="6501384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1384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01384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minority (default) class on training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79408" y="3703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134856" y="3520440"/>
            <a:ext cx="27249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63456" y="3749040"/>
            <a:ext cx="457200" cy="457200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34" name="Text 32"/>
          <p:cNvSpPr/>
          <p:nvPr/>
        </p:nvSpPr>
        <p:spPr>
          <a:xfrm>
            <a:off x="9363456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63456" y="434340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363456" y="4892040"/>
            <a:ext cx="2267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features for scale-sensitive models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 benchmarked on held-out test data by ROC-AUC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886200" cy="448056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</p:spPr>
      </p:sp>
      <p:sp>
        <p:nvSpPr>
          <p:cNvPr id="6" name="Shape 3"/>
          <p:cNvSpPr/>
          <p:nvPr/>
        </p:nvSpPr>
        <p:spPr>
          <a:xfrm>
            <a:off x="8092440" y="1783080"/>
            <a:ext cx="502920" cy="502920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7" name="Image 0" descr="icons/rocket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820" y="184846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9244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9244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092440" y="3337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delivered the strongest discrimination between default and non-default customers, narrowly ahead of Random Forest and well ahead of the linear models.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92440" y="4937760"/>
            <a:ext cx="3291840" cy="0"/>
          </a:xfrm>
          <a:prstGeom prst="line">
            <a:avLst/>
          </a:prstGeom>
          <a:noFill/>
          <a:ln w="12700">
            <a:solidFill>
              <a:srgbClr val="3A4E7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92440" y="5074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compatible with SHAP TreeExplainer for fast, exact explanations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the held-out test set (6,000 customers)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6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76.9%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07208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8" name="Text 6"/>
          <p:cNvSpPr/>
          <p:nvPr/>
        </p:nvSpPr>
        <p:spPr>
          <a:xfrm>
            <a:off x="2898648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47.9%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898648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65776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11" name="Text 9"/>
          <p:cNvSpPr/>
          <p:nvPr/>
        </p:nvSpPr>
        <p:spPr>
          <a:xfrm>
            <a:off x="5157216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4A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52.3%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157216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24344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7415784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6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415784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82912" y="155448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6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9674352" y="17830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0.748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674352" y="24231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737360" y="406908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414223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4,296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11880" y="406908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414223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4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737360" y="512064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519379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4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632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11880" y="5120640"/>
            <a:ext cx="1801368" cy="978408"/>
          </a:xfrm>
          <a:prstGeom prst="rect">
            <a:avLst/>
          </a:prstGeom>
          <a:solidFill>
            <a:srgbClr val="F6F7F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5193792"/>
            <a:ext cx="1801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37360" y="3776472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No Default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11880" y="3776472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Default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2062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2578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92240" y="37490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766560" y="3977640"/>
            <a:ext cx="457200" cy="457200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35" name="Image 0" descr="icons/warning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996" y="4037076"/>
            <a:ext cx="338328" cy="33832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4066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recall matters most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766560" y="4526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flags 52.3% of customers who actually default. Missing a defaulting customer (false negative) carries direct financial risk — which is why recall and false-negative rate are prioritized over raw accuracy for this use case.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Default Risk?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from the trained XGBoost model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5087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6F7F9"/>
          </a:solidFill>
          <a:ln/>
        </p:spPr>
      </p:sp>
      <p:sp>
        <p:nvSpPr>
          <p:cNvPr id="6" name="Shape 3"/>
          <p:cNvSpPr/>
          <p:nvPr/>
        </p:nvSpPr>
        <p:spPr>
          <a:xfrm>
            <a:off x="8458200" y="1783080"/>
            <a:ext cx="475488" cy="475488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7" name="Image 0" descr="icons/bulb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013" y="1844893"/>
            <a:ext cx="351861" cy="3518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5820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repayment behavior dominates.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458200" y="33375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repayment status (PAY_0) is the single strongest signal, followed by demographic and earlier repayment history. Bill and payment amounts matter less than whether a customer has recently missed a payment.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Individual Predictions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turns a black-box score into a transparent, customer-level explanation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89320" y="17830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CUSTOMER — LOCAL EXPLANATION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89320" y="22402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status: 2 months late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778240" y="2569464"/>
            <a:ext cx="2331720" cy="292608"/>
          </a:xfrm>
          <a:prstGeom prst="rect">
            <a:avLst/>
          </a:prstGeom>
          <a:solidFill>
            <a:srgbClr val="B34437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299008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recent payment amount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778240" y="3319272"/>
            <a:ext cx="1554480" cy="292608"/>
          </a:xfrm>
          <a:prstGeom prst="rect">
            <a:avLst/>
          </a:prstGeom>
          <a:solidFill>
            <a:srgbClr val="B34437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373989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existing bill balance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0" y="4069080"/>
            <a:ext cx="888274" cy="292608"/>
          </a:xfrm>
          <a:prstGeom prst="rect">
            <a:avLst/>
          </a:prstGeom>
          <a:solidFill>
            <a:srgbClr val="B34437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448970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age bracket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3069" y="4818888"/>
            <a:ext cx="555171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523951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credit limit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56863" y="5568696"/>
            <a:ext cx="1221377" cy="29260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2240280"/>
            <a:ext cx="0" cy="37490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60624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lowers risk                              raises risk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28600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24365E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2606040"/>
            <a:ext cx="548640" cy="548640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19" name="Image 0" descr="icons/brain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677363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" y="32918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(SHapley Additive exPlanations)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" y="40690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feature a contribution value showing how much it pushed a specific customer's prediction toward or away from default — grounded in cooperative game theory.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68680" y="5349240"/>
            <a:ext cx="4480560" cy="0"/>
          </a:xfrm>
          <a:prstGeom prst="line">
            <a:avLst/>
          </a:prstGeom>
          <a:noFill/>
          <a:ln w="12700">
            <a:solidFill>
              <a:srgbClr val="3A4E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486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ships with its own waterfall of reasons — not just a score.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API serves predictions and SHAP explanations to an interactive web 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6" name="Image 0" descr="icons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08" y="198680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input form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enters credit limit, demographics, and 6 months of repayment history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82112" y="1874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99591" y="1691640"/>
            <a:ext cx="2517161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192024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448" y="1986808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/predict API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1188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builds feature vector, runs the XGBoost model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16752" y="1874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364224" y="1691640"/>
            <a:ext cx="2478024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6520" y="1920240"/>
            <a:ext cx="512064" cy="512064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8" name="Image 2" descr="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088" y="1986808"/>
            <a:ext cx="378927" cy="3789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4652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per-customer feature contributions on the fly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51392" y="1874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226296" y="1691640"/>
            <a:ext cx="2417064" cy="3200400"/>
          </a:xfrm>
          <a:prstGeom prst="roundRect">
            <a:avLst>
              <a:gd name="adj" fmla="val 3103"/>
            </a:avLst>
          </a:prstGeom>
          <a:solidFill>
            <a:srgbClr val="F6F7F9"/>
          </a:solidFill>
          <a:ln/>
        </p:spPr>
      </p:sp>
      <p:sp>
        <p:nvSpPr>
          <p:cNvPr id="23" name="Shape 18"/>
          <p:cNvSpPr/>
          <p:nvPr/>
        </p:nvSpPr>
        <p:spPr>
          <a:xfrm>
            <a:off x="9281160" y="192024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728" y="1986808"/>
            <a:ext cx="378927" cy="3789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560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explanation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81160" y="3154680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label, probability, and top-5 factors returned to the browser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507492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194560" y="507492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XGBoost · SHAP · pandas / NumPy · HTML/CSS/JS front end · joblib model serialization · Gunicorn (production)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KPIs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value across operations, customers, and finance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icons/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187589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04672" y="2569464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9" name="Text 6"/>
          <p:cNvSpPr/>
          <p:nvPr/>
        </p:nvSpPr>
        <p:spPr>
          <a:xfrm>
            <a:off x="987552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credit-risk assessment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4672" y="3191256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30906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analysis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" y="3813048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37124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prioritization of high-risk accounts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15968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18105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1" descr="icons/us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380" y="1875892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30368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572000" y="2569464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risk assessment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0" y="3191256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1" name="Text 17"/>
          <p:cNvSpPr/>
          <p:nvPr/>
        </p:nvSpPr>
        <p:spPr>
          <a:xfrm>
            <a:off x="4754880" y="30906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reasons behind each decision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0" y="3813048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3" name="Text 19"/>
          <p:cNvSpPr/>
          <p:nvPr/>
        </p:nvSpPr>
        <p:spPr>
          <a:xfrm>
            <a:off x="4754880" y="37124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intervention opportunities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83296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6F7F9"/>
          </a:solidFill>
          <a:ln/>
        </p:spPr>
      </p:sp>
      <p:sp>
        <p:nvSpPr>
          <p:cNvPr id="25" name="Shape 21"/>
          <p:cNvSpPr/>
          <p:nvPr/>
        </p:nvSpPr>
        <p:spPr>
          <a:xfrm>
            <a:off x="8339328" y="181051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2" descr="icons/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708" y="1875892"/>
            <a:ext cx="372161" cy="37216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97696" y="18105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8339328" y="2569464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29" name="Text 24"/>
          <p:cNvSpPr/>
          <p:nvPr/>
        </p:nvSpPr>
        <p:spPr>
          <a:xfrm>
            <a:off x="8522208" y="2468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potential credit losses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339328" y="3191256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31" name="Text 26"/>
          <p:cNvSpPr/>
          <p:nvPr/>
        </p:nvSpPr>
        <p:spPr>
          <a:xfrm>
            <a:off x="8522208" y="30906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risk-management efficiency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339328" y="3813048"/>
            <a:ext cx="82296" cy="82296"/>
          </a:xfrm>
          <a:prstGeom prst="ellipse">
            <a:avLst/>
          </a:prstGeom>
          <a:solidFill>
            <a:srgbClr val="0F6E6C"/>
          </a:solidFill>
          <a:ln/>
        </p:spPr>
      </p:sp>
      <p:sp>
        <p:nvSpPr>
          <p:cNvPr id="33" name="Text 28"/>
          <p:cNvSpPr/>
          <p:nvPr/>
        </p:nvSpPr>
        <p:spPr>
          <a:xfrm>
            <a:off x="8522208" y="37124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allocation of credit resources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KPIs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48640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36" name="Text 31"/>
          <p:cNvSpPr/>
          <p:nvPr/>
        </p:nvSpPr>
        <p:spPr>
          <a:xfrm>
            <a:off x="548640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3410712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38" name="Text 33"/>
          <p:cNvSpPr/>
          <p:nvPr/>
        </p:nvSpPr>
        <p:spPr>
          <a:xfrm>
            <a:off x="3410712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272784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40" name="Text 35"/>
          <p:cNvSpPr/>
          <p:nvPr/>
        </p:nvSpPr>
        <p:spPr>
          <a:xfrm>
            <a:off x="6272784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9134856" y="498348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</p:spPr>
      </p:sp>
      <p:sp>
        <p:nvSpPr>
          <p:cNvPr id="42" name="Text 37"/>
          <p:cNvSpPr/>
          <p:nvPr/>
        </p:nvSpPr>
        <p:spPr>
          <a:xfrm>
            <a:off x="9134856" y="4983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Coverage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54864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false-negative rate matter most — missing an actual defaulter carries direct financial risk.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F6E6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Outcome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end-to-end credit-risk prototype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6" name="Image 0" descr="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1748699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916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&amp; EDA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295144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9" name="Image 1" descr="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9" y="2352203"/>
            <a:ext cx="324795" cy="3247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29514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evaluation report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898648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2" name="Image 2" descr="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99" y="2955707"/>
            <a:ext cx="324795" cy="3247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89864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global &amp; local explanations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502152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5" name="Image 3" descr="icons/serv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99" y="3559211"/>
            <a:ext cx="324795" cy="3247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50215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web application (Flask API + UI)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4105656"/>
            <a:ext cx="438912" cy="438912"/>
          </a:xfrm>
          <a:prstGeom prst="ellipse">
            <a:avLst/>
          </a:prstGeom>
          <a:solidFill>
            <a:srgbClr val="0F6E6C"/>
          </a:solidFill>
          <a:ln/>
        </p:spPr>
      </p:sp>
      <p:pic>
        <p:nvPicPr>
          <p:cNvPr id="18" name="Image 4" descr="icons/laye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699" y="4162715"/>
            <a:ext cx="324795" cy="32479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10565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GitHub repository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858000" y="169164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24365E"/>
          </a:solidFill>
          <a:ln/>
        </p:spPr>
      </p:sp>
      <p:sp>
        <p:nvSpPr>
          <p:cNvPr id="21" name="Shape 14"/>
          <p:cNvSpPr/>
          <p:nvPr/>
        </p:nvSpPr>
        <p:spPr>
          <a:xfrm>
            <a:off x="7178040" y="2011680"/>
            <a:ext cx="530352" cy="530352"/>
          </a:xfrm>
          <a:prstGeom prst="ellipse">
            <a:avLst/>
          </a:prstGeom>
          <a:solidFill>
            <a:srgbClr val="D4A94E"/>
          </a:solidFill>
          <a:ln/>
        </p:spPr>
      </p:sp>
      <p:pic>
        <p:nvPicPr>
          <p:cNvPr id="22" name="Image 5" descr="icons/rocket_1B2A4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6986" y="2080626"/>
            <a:ext cx="392460" cy="3924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7804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objective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7178040" y="3017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predicts, quantifies, and explains — in one workflow.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7178040" y="3977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explainable machine-learning system that predicts whether a credit-card customer is likely to default, and identifies the key factors influencing each individual prediction — giving risk teams both accuracy and the confidence to act on it.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Credit Default 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1003</Words>
  <Application>Microsoft Office PowerPoint</Application>
  <PresentationFormat>Widescreen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kakarla rajinikanth</cp:lastModifiedBy>
  <cp:revision>3</cp:revision>
  <dcterms:created xsi:type="dcterms:W3CDTF">2026-08-14T06:10:27Z</dcterms:created>
  <dcterms:modified xsi:type="dcterms:W3CDTF">2026-08-16T15:39:29Z</dcterms:modified>
</cp:coreProperties>
</file>