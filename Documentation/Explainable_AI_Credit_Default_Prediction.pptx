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F6E6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Logistic Regression</c:v>
                  </c:pt>
                  <c:pt idx="3">
                    <c:v>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0.7482</c:v>
                </c:pt>
                <c:pt idx="1">
                  <c:v>0.7461</c:v>
                </c:pt>
                <c:pt idx="2">
                  <c:v>0.6915</c:v>
                </c:pt>
                <c:pt idx="3">
                  <c:v>0.6897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2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b"/>
        <c:majorGridlines>
          <c:spPr>
            <a:ln w="1270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6E6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Education</c:v>
                  </c:pt>
                  <c:pt idx="1">
                    <c:v>Repayment status – 4 months ago</c:v>
                  </c:pt>
                  <c:pt idx="2">
                    <c:v>Repayment status – 5 months ago</c:v>
                  </c:pt>
                  <c:pt idx="3">
                    <c:v>Marital status</c:v>
                  </c:pt>
                  <c:pt idx="4">
                    <c:v>Repayment status – 3 months ago</c:v>
                  </c:pt>
                  <c:pt idx="5">
                    <c:v>Repayment status – 2 months ago</c:v>
                  </c:pt>
                  <c:pt idx="6">
                    <c:v>Sex</c:v>
                  </c:pt>
                  <c:pt idx="7">
                    <c:v>Repayment status – latest month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0.0427</c:v>
                </c:pt>
                <c:pt idx="1">
                  <c:v>0.0478</c:v>
                </c:pt>
                <c:pt idx="2">
                  <c:v>0.0586</c:v>
                </c:pt>
                <c:pt idx="3">
                  <c:v>0.0842</c:v>
                </c:pt>
                <c:pt idx="4">
                  <c:v>0.0896</c:v>
                </c:pt>
                <c:pt idx="5">
                  <c:v>0.1217</c:v>
                </c:pt>
                <c:pt idx="6">
                  <c:v>0.1225</c:v>
                </c:pt>
                <c:pt idx="7">
                  <c:v>0.1406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22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6E6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D4A94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5" name="Image 0" descr="icons/landma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72329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  ·  CREDIT RISK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for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Default Prediction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credit-card payment default with XGBoost, and explaining every prediction with SHAP — so risk teams get both accuracy and trust.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5806440"/>
            <a:ext cx="2011680" cy="0"/>
          </a:xfrm>
          <a:prstGeom prst="line">
            <a:avLst/>
          </a:prstGeom>
          <a:noFill/>
          <a:ln w="31750">
            <a:solidFill>
              <a:srgbClr val="D4A9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Project Report  |  Data Analytics &amp; Explainable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credit-card default prediction needs more than a black 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6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extend credit based on a customer's financial profile and repayment behavior. Identifying who may fail to pay next month is a core risk-management challenge.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scoring and manual analysis struggle with complex, nonlinear repayment behavior. Machine learning can model these patterns — but accurate predictions aren't enough on their own.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34340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financial institution accurately predict credit-card default risk — while also explaining WHY a customer is classified as high-risk or low-risk?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2" name="Image 0" descr="icons/ba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933" y="2073493"/>
            <a:ext cx="351861" cy="3518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19933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complex, nonlinear repayment behavior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06324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6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933" y="3125053"/>
            <a:ext cx="351861" cy="3518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30449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315200" y="3337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slow and hard to scale across portfolios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75120" y="411480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20" name="Image 2" descr="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933" y="4176613"/>
            <a:ext cx="351861" cy="3518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40965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31520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without explaining the reasons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675120" y="516636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24" name="Image 3" descr="icons/us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933" y="5228173"/>
            <a:ext cx="351861" cy="3518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51480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interpretability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315200" y="5440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analyst and customer trust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 spanning prediction, explanation, and usability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40" y="183136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default risk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classifies next-month payment default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1" name="Image 1" descr="icons/balanc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152" y="1831360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false negatives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72584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classification performance, with recall prioritized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6" name="Image 2" descr="icons/bul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064" y="183136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key drivers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0496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customer attributes drive risk most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icons/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40" y="4236232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each prediction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per-customer explanations via SHAP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icons/serve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152" y="4236232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interface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72584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analysts enter customer data and see results live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84464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76200" dist="25400" dir="5400000">
              <a:srgbClr val="8C97A8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icons/lay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064" y="4236232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performance clearly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540496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and visualizations for stakeholders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Credit Card Default dataset — 30,000 customers, 23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 / 22.1%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3816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 (no default / default)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audit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column, confirm zero 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55264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10712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639312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2" name="Text 20"/>
          <p:cNvSpPr/>
          <p:nvPr/>
        </p:nvSpPr>
        <p:spPr>
          <a:xfrm>
            <a:off x="363931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39312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39312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preserving class ratio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7336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72784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501384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8" name="Text 26"/>
          <p:cNvSpPr/>
          <p:nvPr/>
        </p:nvSpPr>
        <p:spPr>
          <a:xfrm>
            <a:off x="6501384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1384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01384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(default) class on training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79408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34856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63456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4" name="Text 32"/>
          <p:cNvSpPr/>
          <p:nvPr/>
        </p:nvSpPr>
        <p:spPr>
          <a:xfrm>
            <a:off x="9363456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63456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363456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features for scale-sensitive models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 benchmarked on held-out test data by ROC-AUC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886200" cy="44805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6" name="Shape 3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7" name="Image 0" descr="icons/rocket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820" y="184846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9244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092440" y="3337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delivered the strongest discrimination between default and non-default customers, narrowly ahead of Random Forest and well ahead of the linear models.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92440" y="4937760"/>
            <a:ext cx="329184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92440" y="5074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compatible with SHAP TreeExplainer for fast, exact explanations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the held-out test set (6,000 customers)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6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76.9%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98648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157216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7415784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6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415784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674352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0.748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674352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737360" y="406908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14223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4,296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11880" y="406908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414223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4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737360" y="512064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19379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4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11880" y="512064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519379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37360" y="377647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 Default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1880" y="377647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Default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257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92240" y="3749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3977640"/>
            <a:ext cx="457200" cy="45720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35" name="Image 0" descr="icons/warning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996" y="4037076"/>
            <a:ext cx="338328" cy="33832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4066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matters most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76656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flags 52.3% of customers who actually default. Missing a defaulting customer (false negative) carries direct financial risk — which is why recall and false-negative rate are prioritized over raw accuracy for this use case.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Default Risk?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from the trained XGBoost model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087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6F7F9"/>
          </a:solidFill>
          <a:ln/>
        </p:spPr>
      </p:sp>
      <p:sp>
        <p:nvSpPr>
          <p:cNvPr id="6" name="Shape 3"/>
          <p:cNvSpPr/>
          <p:nvPr/>
        </p:nvSpPr>
        <p:spPr>
          <a:xfrm>
            <a:off x="8458200" y="1783080"/>
            <a:ext cx="475488" cy="475488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7" name="Image 0" descr="icons/bulb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013" y="1844893"/>
            <a:ext cx="351861" cy="3518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5820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repayment behavior dominates.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58200" y="33375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repayment status (PAY_0) is the single strongest signal, followed by demographic and earlier repayment history. Bill and payment amounts matter less than whether a customer has recently missed a payment.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Individual Predictions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turns a black-box score into a transparent, customer-level explanation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89320" y="17830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CUSTOMER — LOCAL EXPLANATION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89320" y="22402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status: 2 months late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78240" y="2569464"/>
            <a:ext cx="2331720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29900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recent payment amount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778240" y="3319272"/>
            <a:ext cx="1554480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37398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existing bill balance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0" y="4069080"/>
            <a:ext cx="888274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44897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age bracket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3069" y="4818888"/>
            <a:ext cx="555171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52395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credit limit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56863" y="5568696"/>
            <a:ext cx="1221377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2240280"/>
            <a:ext cx="0" cy="3749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60624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lowers risk                              raises risk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24365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19" name="Image 0" descr="icons/brain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677363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" y="3291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(SHapley Additive exPlanations)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40690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feature a contribution value showing how much it pushed a specific customer's prediction toward or away from default — grounded in cooperative game theory.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8680" y="5349240"/>
            <a:ext cx="448056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486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its own waterfall of reasons — not just a score.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API serves predictions and SHAP explanations to an interactive web 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808" y="198680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 form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enters credit limit, demographics, and 6 months of repayment history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8211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92024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448" y="198680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/predict API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188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builds feature vector, runs the XGBoost model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1675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1920240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8" name="Image 2" descr="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088" y="1986808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4652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per-customer feature contributions on the fly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5139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169164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23" name="Shape 18"/>
          <p:cNvSpPr/>
          <p:nvPr/>
        </p:nvSpPr>
        <p:spPr>
          <a:xfrm>
            <a:off x="9281160" y="192024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728" y="1986808"/>
            <a:ext cx="378927" cy="3789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explanation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8116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label, probability, and top-5 factors returned to the browser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507492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194560" y="507492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XGBoost · SHAP · pandas / NumPy · HTML/CSS/JS front end · joblib model serialization · Gunicorn (production)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KPIs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value across operations, customers, and finance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52" y="18758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credit-risk assessment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of high-risk accounts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5968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icons/us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0" y="1875892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0368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572000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risk assessment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0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reasons behind each decision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0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3" name="Text 19"/>
          <p:cNvSpPr/>
          <p:nvPr/>
        </p:nvSpPr>
        <p:spPr>
          <a:xfrm>
            <a:off x="4754880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intervention opportunities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83296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25" name="Shape 21"/>
          <p:cNvSpPr/>
          <p:nvPr/>
        </p:nvSpPr>
        <p:spPr>
          <a:xfrm>
            <a:off x="8339328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2" descr="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708" y="1875892"/>
            <a:ext cx="372161" cy="37216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97696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8339328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9" name="Text 24"/>
          <p:cNvSpPr/>
          <p:nvPr/>
        </p:nvSpPr>
        <p:spPr>
          <a:xfrm>
            <a:off x="8522208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potential credit losses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339328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1" name="Text 26"/>
          <p:cNvSpPr/>
          <p:nvPr/>
        </p:nvSpPr>
        <p:spPr>
          <a:xfrm>
            <a:off x="8522208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risk-management efficiency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339328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3" name="Text 28"/>
          <p:cNvSpPr/>
          <p:nvPr/>
        </p:nvSpPr>
        <p:spPr>
          <a:xfrm>
            <a:off x="8522208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allocation of credit resources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KPIs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410712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38" name="Text 33"/>
          <p:cNvSpPr/>
          <p:nvPr/>
        </p:nvSpPr>
        <p:spPr>
          <a:xfrm>
            <a:off x="3410712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272784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40" name="Text 35"/>
          <p:cNvSpPr/>
          <p:nvPr/>
        </p:nvSpPr>
        <p:spPr>
          <a:xfrm>
            <a:off x="6272784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9134856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42" name="Text 37"/>
          <p:cNvSpPr/>
          <p:nvPr/>
        </p:nvSpPr>
        <p:spPr>
          <a:xfrm>
            <a:off x="9134856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Coverage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false-negative rate matter most — missing an actual defaulter carries direct financial risk.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F6E6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Outcome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end-to-end credit-risk prototype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99" y="1748699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916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&amp; EDA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295144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9" name="Image 1" descr="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99" y="2352203"/>
            <a:ext cx="324795" cy="324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29514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evaluation report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898648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2" name="Image 2" descr="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2955707"/>
            <a:ext cx="324795" cy="324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89864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&amp; local explanations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502152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5" name="Image 3" descr="icons/serv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3559211"/>
            <a:ext cx="324795" cy="3247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50215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application (Flask API + UI)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105656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8" name="Image 4" descr="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99" y="4162715"/>
            <a:ext cx="324795" cy="32479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10565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GitHub repository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858000" y="169164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24365E"/>
          </a:solidFill>
          <a:ln/>
        </p:spPr>
      </p:sp>
      <p:sp>
        <p:nvSpPr>
          <p:cNvPr id="21" name="Shape 14"/>
          <p:cNvSpPr/>
          <p:nvPr/>
        </p:nvSpPr>
        <p:spPr>
          <a:xfrm>
            <a:off x="7178040" y="2011680"/>
            <a:ext cx="530352" cy="530352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22" name="Image 5" descr="icons/rocket_1B2A4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986" y="2080626"/>
            <a:ext cx="392460" cy="3924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7804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objective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7178040" y="3017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predicts, quantifies, and explains — in one workflow.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7178040" y="3977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explainable machine-learning system that predicts whether a credit-card customer is likely to default, and identifies the key factors influencing each individual prediction — giving risk teams both accuracy and the confidence to act on it.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2026-08-14T06:10:27Z</dcterms:created>
  <dcterms:modified xsi:type="dcterms:W3CDTF">2026-08-14T06:10:27Z</dcterms:modified>
</cp:coreProperties>
</file>